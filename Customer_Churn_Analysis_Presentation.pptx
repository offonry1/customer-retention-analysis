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96686d69f04a14" /><Relationship Type="http://schemas.openxmlformats.org/officeDocument/2006/relationships/extended-properties" Target="/docProps/app.xml" Id="R512fce9e3e844a73" /><Relationship Type="http://schemas.openxmlformats.org/officeDocument/2006/relationships/officeDocument" Target="/ppt/presentation.xml" Id="R07d6bc3770aa46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eab3f46343499a"/>
  </p:sldMasterIdLst>
  <p:notesMasterIdLst>
    <p:notesMasterId xmlns:r="http://schemas.openxmlformats.org/officeDocument/2006/relationships" r:id="R60850b682d844a68"/>
  </p:notesMasterIdLst>
  <p:sldIdLst>
    <p:sldId xmlns:r="http://schemas.openxmlformats.org/officeDocument/2006/relationships" id="256" r:id="R3266d9e51d6a48f9"/>
    <p:sldId xmlns:r="http://schemas.openxmlformats.org/officeDocument/2006/relationships" id="257" r:id="R1846d724845841a0"/>
    <p:sldId xmlns:r="http://schemas.openxmlformats.org/officeDocument/2006/relationships" id="258" r:id="Ra2be4450cb544f51"/>
    <p:sldId xmlns:r="http://schemas.openxmlformats.org/officeDocument/2006/relationships" id="259" r:id="Rdd65197522294e10"/>
    <p:sldId xmlns:r="http://schemas.openxmlformats.org/officeDocument/2006/relationships" id="260" r:id="Rd8e0dfc16b784ed5"/>
    <p:sldId xmlns:r="http://schemas.openxmlformats.org/officeDocument/2006/relationships" id="261" r:id="R8eb5ed52603148e9"/>
    <p:sldId xmlns:r="http://schemas.openxmlformats.org/officeDocument/2006/relationships" id="262" r:id="Ra45202c5a9104e5a"/>
    <p:sldId xmlns:r="http://schemas.openxmlformats.org/officeDocument/2006/relationships" id="263" r:id="R31e29af184a443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7deade48ee443b" /><Relationship Type="http://schemas.openxmlformats.org/officeDocument/2006/relationships/slideMaster" Target="/ppt/slideMasters/slideMaster1.xml" Id="Reeeab3f46343499a" /><Relationship Type="http://schemas.openxmlformats.org/officeDocument/2006/relationships/notesMaster" Target="/ppt/notesMasters/notesMaster1.xml" Id="R60850b682d844a68" /><Relationship Type="http://schemas.openxmlformats.org/officeDocument/2006/relationships/presProps" Target="/ppt/presProps.xml" Id="Radd3c444abd943f5" /><Relationship Type="http://schemas.openxmlformats.org/officeDocument/2006/relationships/tableStyles" Target="/ppt/tableStyles.xml" Id="R8796251642dd475d" /><Relationship Type="http://schemas.openxmlformats.org/officeDocument/2006/relationships/slide" Target="/ppt/slides/slide1.xml" Id="R3266d9e51d6a48f9" /><Relationship Type="http://schemas.openxmlformats.org/officeDocument/2006/relationships/slide" Target="/ppt/slides/slide2.xml" Id="R1846d724845841a0" /><Relationship Type="http://schemas.openxmlformats.org/officeDocument/2006/relationships/slide" Target="/ppt/slides/slide3.xml" Id="Ra2be4450cb544f51" /><Relationship Type="http://schemas.openxmlformats.org/officeDocument/2006/relationships/slide" Target="/ppt/slides/slide4.xml" Id="Rdd65197522294e10" /><Relationship Type="http://schemas.openxmlformats.org/officeDocument/2006/relationships/slide" Target="/ppt/slides/slide5.xml" Id="Rd8e0dfc16b784ed5" /><Relationship Type="http://schemas.openxmlformats.org/officeDocument/2006/relationships/slide" Target="/ppt/slides/slide6.xml" Id="R8eb5ed52603148e9" /><Relationship Type="http://schemas.openxmlformats.org/officeDocument/2006/relationships/slide" Target="/ppt/slides/slide7.xml" Id="Ra45202c5a9104e5a" /><Relationship Type="http://schemas.openxmlformats.org/officeDocument/2006/relationships/slide" Target="/ppt/slides/slide8.xml" Id="R31e29af184a443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ab7a3dc6d54b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dd8ea0a67a4ddf" /><Relationship Type="http://schemas.openxmlformats.org/officeDocument/2006/relationships/notesMaster" Target="/ppt/notesMasters/notesMaster1.xml" Id="Raae26b6fd7b34c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e7b56fb60e4ed1" /><Relationship Type="http://schemas.openxmlformats.org/officeDocument/2006/relationships/notesMaster" Target="/ppt/notesMasters/notesMaster1.xml" Id="R3c76c1a26a7b47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5e6eb8d7eb4894" /><Relationship Type="http://schemas.openxmlformats.org/officeDocument/2006/relationships/notesMaster" Target="/ppt/notesMasters/notesMaster1.xml" Id="R0bcba71efac74b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9b16e9b55b47a2" /><Relationship Type="http://schemas.openxmlformats.org/officeDocument/2006/relationships/notesMaster" Target="/ppt/notesMasters/notesMaster1.xml" Id="R1b85dc605a9b46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53cab620f940ee" /><Relationship Type="http://schemas.openxmlformats.org/officeDocument/2006/relationships/notesMaster" Target="/ppt/notesMasters/notesMaster1.xml" Id="R9792ae020a5948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8da827fc8a462f" /><Relationship Type="http://schemas.openxmlformats.org/officeDocument/2006/relationships/notesMaster" Target="/ppt/notesMasters/notesMaster1.xml" Id="Ra1e7b9a0717447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0f7645c3264b04" /><Relationship Type="http://schemas.openxmlformats.org/officeDocument/2006/relationships/notesMaster" Target="/ppt/notesMasters/notesMaster1.xml" Id="R88696ef837d144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815158995a496b" /><Relationship Type="http://schemas.openxmlformats.org/officeDocument/2006/relationships/notesMaster" Target="/ppt/notesMasters/notesMaster1.xml" Id="R3094942e00ac46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3b833891e4b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314a42baa44353" /><Relationship Type="http://schemas.openxmlformats.org/officeDocument/2006/relationships/slideLayout" Target="/ppt/slideLayouts/slideLayout1.xml" Id="R3bd641a5da814f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d641a5da814f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87b94683c4e00" /><Relationship Type="http://schemas.openxmlformats.org/officeDocument/2006/relationships/notesSlide" Target="/ppt/notesSlides/notesSlide1.xml" Id="R20dc0d60464145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6db7bbc9044ed" /><Relationship Type="http://schemas.openxmlformats.org/officeDocument/2006/relationships/notesSlide" Target="/ppt/notesSlides/notesSlide2.xml" Id="R02104c8a19414b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32ad6c36746b1" /><Relationship Type="http://schemas.openxmlformats.org/officeDocument/2006/relationships/image" Target="/ppt/media/image.png" Id="R957bcddcd8cf4434" /><Relationship Type="http://schemas.openxmlformats.org/officeDocument/2006/relationships/notesSlide" Target="/ppt/notesSlides/notesSlide3.xml" Id="R5731111fc7ce4d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124f8237645f6" /><Relationship Type="http://schemas.openxmlformats.org/officeDocument/2006/relationships/image" Target="/ppt/media/image2.png" Id="R68d6bef2b3714a08" /><Relationship Type="http://schemas.openxmlformats.org/officeDocument/2006/relationships/notesSlide" Target="/ppt/notesSlides/notesSlide4.xml" Id="Rc58048fc69bd42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ddfa577e04746" /><Relationship Type="http://schemas.openxmlformats.org/officeDocument/2006/relationships/image" Target="/ppt/media/image3.png" Id="Re3a3619bdbd341d4" /><Relationship Type="http://schemas.openxmlformats.org/officeDocument/2006/relationships/notesSlide" Target="/ppt/notesSlides/notesSlide5.xml" Id="Ref69e5a9f57846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5eae2932746bc" /><Relationship Type="http://schemas.openxmlformats.org/officeDocument/2006/relationships/image" Target="/ppt/media/image4.png" Id="Rf8f23ae7d5d24441" /><Relationship Type="http://schemas.openxmlformats.org/officeDocument/2006/relationships/notesSlide" Target="/ppt/notesSlides/notesSlide6.xml" Id="Rc308e117cf804b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97fc5a07c4861" /><Relationship Type="http://schemas.openxmlformats.org/officeDocument/2006/relationships/image" Target="/ppt/media/image5.png" Id="R15194e3d22794966" /><Relationship Type="http://schemas.openxmlformats.org/officeDocument/2006/relationships/notesSlide" Target="/ppt/notesSlides/notesSlide7.xml" Id="R37152b1946b548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99e52e6f94f69" /><Relationship Type="http://schemas.openxmlformats.org/officeDocument/2006/relationships/notesSlide" Target="/ppt/notesSlides/notesSlide8.xml" Id="Rdcb3ca6310374b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285C02-C3BC-4D3D-8B5E-5667EA41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Customer Churn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290F0-107D-4474-8569-50B667A4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5555"/>
                </a:solidFill>
              </a:defRPr>
            </a:pPr>
            <a:r>
              <a:rPr sz="1800">
                <a:solidFill>
                  <a:srgbClr val="555555"/>
                </a:solidFill>
              </a:rPr>
              <a:t>Telco Communications | 7,043 customer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DFCB4-436A-42E5-A238-2A48CA8D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2FB47-4D26-47A8-80DE-789F99B8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26.54%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ED282-BD73-44C0-8F1E-168A2781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overall churn 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FAC8A-05F8-454E-9B5F-C840A2D0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385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1,869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E0379-AE1B-40B5-964F-FFB6D416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434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customers churned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2E409-3237-4464-BDB1-184883DC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38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0-12 mo.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B6321-8076-4F57-9301-66628CDF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434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highest-risk tenure group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F3A58-5766-4DA5-9F31-9485902B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Prepared by Mandela Offonry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7D5A9-4900-43A0-A863-3C03993D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707264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BD283F-C8F4-4F9D-8969-F67E18EB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47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Churn is concentrated in a few actionable segments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B3D94-C5F4-490E-8DA3-C4D024CF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The analysis points to specific retention levers rather than a broad customer problem.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62FCB-2B1B-4FB5-9132-608536E1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BCE82-E6EB-48DC-9A7B-CD8737F4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D9703-E5CD-4F00-9194-585F258D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675E8-6437-4BB4-8899-5ABB3CE5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8125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B404D-B5F0-4D90-96A2-F023D289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AB2FD-ACBE-428A-82F4-E7122278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42.71%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DE9F9-044D-42AE-92EB-114A784D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month-to-month churn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7B988-027D-4636-96FF-E319C3B7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813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47.44%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415FE-04AD-4C2F-9D74-90FFC0F4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861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first-year churn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E9737-87F6-4048-80BC-81AA6675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41.89%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8DDD8-B0B2-4FC0-82E5-0D0A4614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861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fiber optic churn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032F9-AD5E-402F-B636-F25633C1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</a:rPr>
              <a:t>These groups sit far above the 26.54% baseline and should define the first retention campaign.</a:t>
            </a:r>
          </a:p>
        </p:txBody>
      </p:sp>
    </p:spTree>
    <p:extLst>
      <p:ext uri="{BB962C8B-B14F-4D97-AF65-F5344CB8AC3E}">
        <p14:creationId xmlns:p14="http://schemas.microsoft.com/office/powerpoint/2010/main" val="1452599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D3AABB-192A-48E1-88D6-5E75DC5B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47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More than one in four customers left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E2814-B213-484D-BE4A-ED20307C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The 26.54% churn rate is the benchmark for judging every segment.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38F3D-7F88-4D7E-BC75-F4053C09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E5B48-6C29-43C8-B58E-19A6C692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bcddcd8cf4434"/>
          <a:stretch xmlns:a="http://schemas.openxmlformats.org/drawingml/2006/main"/>
        </p:blipFill>
        <p:spPr>
          <a:xfrm xmlns:a="http://schemas.openxmlformats.org/drawingml/2006/main">
            <a:off x="609600" y="2192624"/>
            <a:ext cx="5334000" cy="395865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1681F-E600-411F-A537-523DF803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</a:defRPr>
            </a:pPr>
            <a:r>
              <a:rPr sz="1875">
                <a:solidFill>
                  <a:srgbClr val="000000"/>
                </a:solidFill>
              </a:rPr>
              <a:t>- 5,174 customers were retained.</a:t>
            </a:r>
          </a:p>
          <a:p xmlns:a="http://schemas.openxmlformats.org/drawingml/2006/main">
            <a:pPr>
              <a:defRPr sz="1875">
                <a:solidFill>
                  <a:srgbClr val="000000"/>
                </a:solidFill>
              </a:defRPr>
            </a:pPr>
            <a:r>
              <a:rPr sz="1875">
                <a:solidFill>
                  <a:srgbClr val="000000"/>
                </a:solidFill>
              </a:rPr>
              <a:t>- 1,869 customers churned.</a:t>
            </a:r>
          </a:p>
          <a:p xmlns:a="http://schemas.openxmlformats.org/drawingml/2006/main">
            <a:pPr>
              <a:defRPr sz="1875">
                <a:solidFill>
                  <a:srgbClr val="000000"/>
                </a:solidFill>
              </a:defRPr>
            </a:pPr>
            <a:r>
              <a:rPr sz="1875">
                <a:solidFill>
                  <a:srgbClr val="000000"/>
                </a:solidFill>
              </a:rPr>
              <a:t>- Every segment above 26.54% deserves retention attention.</a:t>
            </a:r>
          </a:p>
        </p:txBody>
      </p:sp>
    </p:spTree>
    <p:extLst>
      <p:ext uri="{BB962C8B-B14F-4D97-AF65-F5344CB8AC3E}">
        <p14:creationId xmlns:p14="http://schemas.microsoft.com/office/powerpoint/2010/main" val="5145983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2B0CC0-CF36-4F77-924D-8103D89D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47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Contract length is the clearest retention lever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E6FB7-40E4-4182-8393-C513DC17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Month-to-month customers churn nearly 15 times more than two-year customers.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38C96-E320-4837-BB29-8CE854E7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E184A-E6A6-4145-BFB3-4607D829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04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6bef2b3714a08"/>
          <a:stretch xmlns:a="http://schemas.openxmlformats.org/drawingml/2006/main"/>
        </p:blipFill>
        <p:spPr>
          <a:xfrm xmlns:a="http://schemas.openxmlformats.org/drawingml/2006/main">
            <a:off x="832920" y="2114550"/>
            <a:ext cx="6220859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F510B-9348-4828-AE57-CD1C9C74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31813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F9588-239F-4AD8-A8FB-6FEFD4AF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Implication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04044-7844-4D5F-8B87-536ABB88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  <a:r>
              <a:rPr sz="1650">
                <a:solidFill>
                  <a:srgbClr val="000000"/>
                </a:solidFill>
              </a:rPr>
              <a:t>The fastest churn-reduction move is converting short-contract customers into annual or two-year plans through targeted incentives.</a:t>
            </a:r>
          </a:p>
        </p:txBody>
      </p:sp>
    </p:spTree>
    <p:extLst>
      <p:ext uri="{BB962C8B-B14F-4D97-AF65-F5344CB8AC3E}">
        <p14:creationId xmlns:p14="http://schemas.microsoft.com/office/powerpoint/2010/main" val="17586655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87F65F-DBF4-4055-87BB-C34DAC0E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47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The first year is the danger zone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931ED-6C49-4B7C-9E96-FF969A51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Churn falls sharply as customers move from early tenure into long-term loyalty.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3DD37-A821-4D19-B7BA-D5188374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ED26C-F529-4D60-8B99-CC828E99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3619bdbd341d4"/>
          <a:stretch xmlns:a="http://schemas.openxmlformats.org/drawingml/2006/main"/>
        </p:blipFill>
        <p:spPr>
          <a:xfrm xmlns:a="http://schemas.openxmlformats.org/drawingml/2006/main">
            <a:off x="533400" y="2242293"/>
            <a:ext cx="6286500" cy="37259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CC71A-AF23-4D50-9235-E7757CF7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3524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</a:defRPr>
            </a:pPr>
            <a:r>
              <a:rPr sz="1725">
                <a:solidFill>
                  <a:srgbClr val="000000"/>
                </a:solidFill>
              </a:rPr>
              <a:t>- 0-12 months: 47.44% churn.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</a:defRPr>
            </a:pPr>
            <a:r>
              <a:rPr sz="1725">
                <a:solidFill>
                  <a:srgbClr val="000000"/>
                </a:solidFill>
              </a:rPr>
              <a:t>- 13-24 months: 28.71% churn.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</a:defRPr>
            </a:pPr>
            <a:r>
              <a:rPr sz="1725">
                <a:solidFill>
                  <a:srgbClr val="000000"/>
                </a:solidFill>
              </a:rPr>
              <a:t>- 49-72 months: 9.51% churn.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</a:defRPr>
            </a:pPr>
            <a:r>
              <a:rPr sz="1725">
                <a:solidFill>
                  <a:srgbClr val="000000"/>
                </a:solidFill>
              </a:rPr>
              <a:t>- Retention should start before the customer has time to disengage.</a:t>
            </a:r>
          </a:p>
        </p:txBody>
      </p:sp>
    </p:spTree>
    <p:extLst>
      <p:ext uri="{BB962C8B-B14F-4D97-AF65-F5344CB8AC3E}">
        <p14:creationId xmlns:p14="http://schemas.microsoft.com/office/powerpoint/2010/main" val="395645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1651A7-8121-4197-AB57-BE76B699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47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Churned customers are newer and pay more each month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5938F-16C2-4DD8-8C0A-2124A863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Short tenure plus higher monthly charges is the riskiest customer profile.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6F9DB-D739-490D-811C-2EBFB9C5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09811-E4B9-4208-BF2E-B2E06D7E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23ae7d5d24441"/>
          <a:stretch xmlns:a="http://schemas.openxmlformats.org/drawingml/2006/main"/>
        </p:blipFill>
        <p:spPr>
          <a:xfrm xmlns:a="http://schemas.openxmlformats.org/drawingml/2006/main">
            <a:off x="534492" y="2209800"/>
            <a:ext cx="6570066" cy="3390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B3ADD-0783-44E5-931A-F6D2C7C3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00300"/>
            <a:ext cx="3276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1ACE1-20A6-4722-AC34-0C408A52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05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Average 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F319E-67ED-4C62-B002-6B143413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57550"/>
            <a:ext cx="2571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Churned: 18.0 months tenure, USD 74.44 monthly charges.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Retained: 37.6 months tenure, USD 61.27 monthly charges.</a:t>
            </a:r>
          </a:p>
        </p:txBody>
      </p:sp>
    </p:spTree>
    <p:extLst>
      <p:ext uri="{BB962C8B-B14F-4D97-AF65-F5344CB8AC3E}">
        <p14:creationId xmlns:p14="http://schemas.microsoft.com/office/powerpoint/2010/main" val="9461001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0C3DAE-8D5C-4AE9-A105-7A4A4B78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47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Fiber optic and electronic check customers need attention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E98B5-BC1F-4F52-964F-195DFF85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Service experience and billing behavior both signal elevated churn risk.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765DD-6F76-4DDC-912E-9B749CD8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9788C-7CBB-42BA-817D-615D88AD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94e3d22794966"/>
          <a:stretch xmlns:a="http://schemas.openxmlformats.org/drawingml/2006/main"/>
        </p:blipFill>
        <p:spPr>
          <a:xfrm xmlns:a="http://schemas.openxmlformats.org/drawingml/2006/main">
            <a:off x="517041" y="2152650"/>
            <a:ext cx="5852493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F6AC4-D86B-496F-9F94-D0B4A76A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81250"/>
            <a:ext cx="38481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30E20-5918-42A5-B414-45B5B06E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86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Payment method churn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B3BBB-CE2B-4F85-B264-BDE417FB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19450"/>
            <a:ext cx="2952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</a:defRPr>
            </a:pPr>
            <a:r>
              <a:rPr sz="1725">
                <a:solidFill>
                  <a:srgbClr val="000000"/>
                </a:solidFill>
              </a:rPr>
              <a:t>Electronic check: 45.29%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</a:defRPr>
            </a:pPr>
            <a:r>
              <a:rPr sz="1725">
                <a:solidFill>
                  <a:srgbClr val="000000"/>
                </a:solidFill>
              </a:rPr>
              <a:t>Mailed check: 19.11%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</a:defRPr>
            </a:pPr>
            <a:r>
              <a:rPr sz="1725">
                <a:solidFill>
                  <a:srgbClr val="000000"/>
                </a:solidFill>
              </a:rPr>
              <a:t>Bank transfer: 16.71%</a:t>
            </a:r>
          </a:p>
          <a:p xmlns:a="http://schemas.openxmlformats.org/drawingml/2006/main">
            <a:pPr>
              <a:defRPr sz="1725">
                <a:solidFill>
                  <a:srgbClr val="000000"/>
                </a:solidFill>
              </a:defRPr>
            </a:pPr>
            <a:r>
              <a:rPr sz="1725">
                <a:solidFill>
                  <a:srgbClr val="000000"/>
                </a:solidFill>
              </a:rPr>
              <a:t>Credit card: 15.24%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70DA7-563C-4773-8632-D0F27F79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0060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Move high-risk customers toward automatic billing while investigating fiber optic value and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4343238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F3F575-0805-4CD9-B539-D892406D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47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Retention should start with three focused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6A9BB-1FA6-47F0-8EC5-E8C3F2E7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The strongest findings are specific enough to become an operating plan.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CAA40-3E07-401A-A54D-C61F4248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453C9-8030-4BD1-924F-BF447EF0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6FFAE-8A63-4060-BBF7-AB3B0423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2F0D4-D832-4F0D-BDA9-A45E3710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03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E0672-9C63-4AF4-BF1A-E4A371F5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B7589-8F52-4EA7-AEE7-03A6573D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6B35"/>
                </a:solidFill>
              </a:defRPr>
            </a:pPr>
            <a:r>
              <a:rPr sz="37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62EA9-DA64-43ED-85A6-3D6C6D77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Convert contracts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B424A-F5FB-48A7-88EA-F9059C9D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Offer targeted incentives to move month-to-month customers into longer commitments.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C9466-B9AC-49B9-A22A-0BFECBF0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241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6B35"/>
                </a:solidFill>
              </a:defRPr>
            </a:pPr>
            <a:r>
              <a:rPr sz="375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9860D-9BEC-4A48-A5CA-FD8F8AE8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05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Protect year 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90E7A-0FCA-4C28-B22F-E65C518E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386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Use onboarding, 30/60/90-day check-ins, and early loyalty rewards for new customers.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E1814-A576-4F33-AAA5-A48816CF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6B35"/>
                </a:solidFill>
              </a:defRPr>
            </a:pPr>
            <a:r>
              <a:rPr sz="37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093C4-83D2-4A86-9DD7-099ACF4F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05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Fix premium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19EFB-D64B-4795-93B3-5DCAD723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386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</a:defRPr>
            </a:pPr>
            <a:r>
              <a:rPr sz="1575">
                <a:solidFill>
                  <a:srgbClr val="000000"/>
                </a:solidFill>
              </a:rPr>
              <a:t>Survey fiber optic customers and test pricing, reliability, and value interventions.</a:t>
            </a:r>
          </a:p>
        </p:txBody>
      </p:sp>
    </p:spTree>
    <p:extLst>
      <p:ext uri="{BB962C8B-B14F-4D97-AF65-F5344CB8AC3E}">
        <p14:creationId xmlns:p14="http://schemas.microsoft.com/office/powerpoint/2010/main" val="1764939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2026-07-01T13:51:42.9400000Z</dcterms:created>
  <dcterms:modified xsi:type="dcterms:W3CDTF">2026-07-01T13:51:42.9400000Z</dcterms:modified>
</coreProperties>
</file>